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Urbanis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-regular.fntdata"/><Relationship Id="rId10" Type="http://schemas.openxmlformats.org/officeDocument/2006/relationships/slide" Target="slides/slide5.xml"/><Relationship Id="rId13" Type="http://schemas.openxmlformats.org/officeDocument/2006/relationships/font" Target="fonts/Urbanist-italic.fntdata"/><Relationship Id="rId12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11" Type="http://schemas.openxmlformats.org/officeDocument/2006/relationships/image" Target="../media/image23.png"/><Relationship Id="rId10" Type="http://schemas.openxmlformats.org/officeDocument/2006/relationships/image" Target="../media/image26.png"/><Relationship Id="rId9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0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223962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PROYECTO INDIVIDUAL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1633537"/>
            <a:ext cx="52006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Recetas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Gourmet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633787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Implementación de una arquitectura distribuida de microservicios con automatización CI/CD y gestión de datos heterogéneos.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357812"/>
            <a:ext cx="4953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Inhar Serrano Muñoz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355595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314450"/>
            <a:ext cx="355595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314450"/>
            <a:ext cx="3556099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420052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Lógica avanzada de filtrado y visualización dinámica en el cliente SPA.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609725"/>
            <a:ext cx="4191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66775" y="2085975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Ingesta CSV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2495550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Procesamiento automático de datos externos con normalización de ingredientes.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1609725"/>
            <a:ext cx="4191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613225" y="2085975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APIs RESTful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13225" y="2495550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Arquitectura basada en el estándar OpenAPI 3.0 para una integración programática total.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1609725"/>
            <a:ext cx="2952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359675" y="2085975"/>
            <a:ext cx="311382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Persistencia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59675" y="2495550"/>
            <a:ext cx="2965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Mix de SQL (PostgreSQL) para datos maestros y NoSQL (MongoDB) para ratings.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Funcionalidades y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Modelo de Datos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13144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Estrategia Tecnológica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23900" y="172402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1724025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Paradigma: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Microservicios orquestados con Docker Compose.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23900" y="24384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2438400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API Gateway: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Node.js / Express como punto de entrada único.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23900" y="315277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3152775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SPA (HTML5/JS ES6) con uso extensivo de JavaScript.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23900" y="38671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3867150"/>
            <a:ext cx="5143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Estilos: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Tailwind CSS para diseño adaptable.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5213" y="19240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534150" y="2400300"/>
            <a:ext cx="1155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Python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6663" y="19240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375600" y="2400300"/>
            <a:ext cx="1155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Node.js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56676" y="19240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10217050" y="2400300"/>
            <a:ext cx="1155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Docker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45213" y="32480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534150" y="3724275"/>
            <a:ext cx="1155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Postgres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2851" y="32480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8375600" y="3724275"/>
            <a:ext cx="1155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MongoDB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28114" y="32480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10217050" y="3724275"/>
            <a:ext cx="1155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JS ES6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Arquitectura de la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Solución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2471737"/>
            <a:ext cx="42862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8525" y="2938462"/>
            <a:ext cx="35052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48525" y="3795712"/>
            <a:ext cx="35052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48525" y="4624387"/>
            <a:ext cx="168116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72562" y="4624387"/>
            <a:ext cx="168116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43975" y="3500437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06807" y="4330069"/>
            <a:ext cx="188585" cy="188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06857" y="4330069"/>
            <a:ext cx="188585" cy="18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0" y="571500"/>
            <a:ext cx="12192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Lecciones y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Excelencia Técnica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715000" y="1447800"/>
            <a:ext cx="76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49375" y="1635850"/>
            <a:ext cx="5505300" cy="48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</a:rPr>
              <a:t>1. Tecnología adecuada para el problema adecuado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Una de las mayores lecciones es que no existe una única herramienta perfecta para todo.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Bases de Datos:</a:t>
            </a:r>
            <a:r>
              <a:rPr lang="en-US" sz="1100">
                <a:solidFill>
                  <a:schemeClr val="lt1"/>
                </a:solidFill>
              </a:rPr>
              <a:t> Aprendemos que los datos maestros y estructurados (como las recetas) encajan mejor en </a:t>
            </a:r>
            <a:r>
              <a:rPr b="1" lang="en-US" sz="1100">
                <a:solidFill>
                  <a:schemeClr val="lt1"/>
                </a:solidFill>
              </a:rPr>
              <a:t>PostgreSQL</a:t>
            </a:r>
            <a:r>
              <a:rPr lang="en-US" sz="1100">
                <a:solidFill>
                  <a:schemeClr val="lt1"/>
                </a:solidFill>
              </a:rPr>
              <a:t> por su integridad referencial, mientras que los datos dinámicos y de rápido crecimiento (como las valoraciones) se gestionan de forma más eficiente en </a:t>
            </a:r>
            <a:r>
              <a:rPr b="1" lang="en-US" sz="1100">
                <a:solidFill>
                  <a:schemeClr val="lt1"/>
                </a:solidFill>
              </a:rPr>
              <a:t>MongoDB</a:t>
            </a:r>
            <a:r>
              <a:rPr lang="en-US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Lenguajes:</a:t>
            </a:r>
            <a:r>
              <a:rPr lang="en-US" sz="1100">
                <a:solidFill>
                  <a:schemeClr val="lt1"/>
                </a:solidFill>
              </a:rPr>
              <a:t> Usar </a:t>
            </a:r>
            <a:r>
              <a:rPr b="1" lang="en-US" sz="1100">
                <a:solidFill>
                  <a:schemeClr val="lt1"/>
                </a:solidFill>
              </a:rPr>
              <a:t>Python</a:t>
            </a:r>
            <a:r>
              <a:rPr lang="en-US" sz="1100">
                <a:solidFill>
                  <a:schemeClr val="lt1"/>
                </a:solidFill>
              </a:rPr>
              <a:t> para la lógica de catálogo y </a:t>
            </a:r>
            <a:r>
              <a:rPr b="1" lang="en-US" sz="1100">
                <a:solidFill>
                  <a:schemeClr val="lt1"/>
                </a:solidFill>
              </a:rPr>
              <a:t>Node.js</a:t>
            </a:r>
            <a:r>
              <a:rPr lang="en-US" sz="1100">
                <a:solidFill>
                  <a:schemeClr val="lt1"/>
                </a:solidFill>
              </a:rPr>
              <a:t> para el Gateway y las valoraciones demuestra una arquitectura inteligente.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</a:rPr>
              <a:t>2. La importancia del Orquestador y el API Gateway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El </a:t>
            </a:r>
            <a:r>
              <a:rPr b="1" lang="en-US" sz="1100">
                <a:solidFill>
                  <a:schemeClr val="lt1"/>
                </a:solidFill>
              </a:rPr>
              <a:t>API Gateway</a:t>
            </a:r>
            <a:r>
              <a:rPr lang="en-US" sz="1100">
                <a:solidFill>
                  <a:schemeClr val="lt1"/>
                </a:solidFill>
              </a:rPr>
              <a:t> actúa como un "embajador": el cliente no necesita saber cuántos microservicios existen ni en qué puertos corren; solo conoce un punto de entrada.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Docker Compose</a:t>
            </a:r>
            <a:r>
              <a:rPr lang="en-US" sz="1100">
                <a:solidFill>
                  <a:schemeClr val="lt1"/>
                </a:solidFill>
              </a:rPr>
              <a:t> es la pieza clave que permite que todo este ecosistema se levante con un solo comando, eliminando el clásico problema de "en mi máquina funciona".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247775"/>
            <a:ext cx="8572500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2205513" y="1828800"/>
            <a:ext cx="77809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Demo</a:t>
            </a:r>
            <a:r>
              <a:rPr b="1" i="0" lang="en-US" sz="4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&amp; Conclusiones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2390775" y="4848225"/>
            <a:ext cx="7410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Inhar Serrano Muñoz | github.com/Inhar6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2390775" y="2800350"/>
            <a:ext cx="36904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Workflow Demo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2390775" y="3114675"/>
            <a:ext cx="351472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2390775" y="3267075"/>
            <a:ext cx="35147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Despliegue: docker compose up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• Ingesta: Sincronización CSV activa.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• Cliente: Navegación y Rating Service.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286500" y="2800350"/>
            <a:ext cx="36904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Veredicto Final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6286500" y="3114675"/>
            <a:ext cx="351472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6286500" y="3267075"/>
            <a:ext cx="35147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 arquitectura de microservicios permite una especialización técnica óptima y una escalabilidad horizontal real para proyectos modernos.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